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20500000000000000" charset="0"/>
      <p:regular r:id="rId14"/>
    </p:embeddedFont>
    <p:embeddedFont>
      <p:font typeface="TT Octosquares Compressed" panose="02020500000000000000" charset="0"/>
      <p:regular r:id="rId15"/>
    </p:embeddedFont>
    <p:embeddedFont>
      <p:font typeface="Open Sans Bold" panose="02020500000000000000" charset="0"/>
      <p:regular r:id="rId16"/>
    </p:embeddedFont>
    <p:embeddedFont>
      <p:font typeface="TT Octosquares Compressed Bold" panose="02020500000000000000" charset="0"/>
      <p:regular r:id="rId17"/>
    </p:embeddedFont>
    <p:embeddedFont>
      <p:font typeface="Open Sans" panose="02020500000000000000" charset="0"/>
      <p:regular r:id="rId18"/>
    </p:embeddedFont>
    <p:embeddedFont>
      <p:font typeface="Canva Sans" panose="02020500000000000000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1.console.aws.amazon.com/deepracer/home?region=us-east-1#createModel" TargetMode="External"/><Relationship Id="rId2" Type="http://schemas.openxmlformats.org/officeDocument/2006/relationships/hyperlink" Target="https://engineering.linecorp.com/zh-hant/blog/aws-deepracer-201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843386" y="4189844"/>
            <a:ext cx="1218296" cy="1907312"/>
          </a:xfrm>
          <a:custGeom>
            <a:avLst/>
            <a:gdLst/>
            <a:ahLst/>
            <a:cxnLst/>
            <a:rect l="l" t="t" r="r" b="b"/>
            <a:pathLst>
              <a:path w="1218296" h="1907312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089294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</a:rPr>
              <a:t>Contact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533497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</a:rPr>
              <a:t>About 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02741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</a:rPr>
              <a:t>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46981" y="5176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1681" y="3427420"/>
            <a:ext cx="10164638" cy="308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96"/>
              </a:lnSpc>
              <a:spcBef>
                <a:spcPct val="0"/>
              </a:spcBef>
            </a:pPr>
            <a:r>
              <a:rPr lang="en-US" sz="18068">
                <a:solidFill>
                  <a:srgbClr val="FFFFFF"/>
                </a:solidFill>
                <a:latin typeface="TT Octosquares Compressed"/>
              </a:rPr>
              <a:t>DEEP RACER</a:t>
            </a:r>
          </a:p>
        </p:txBody>
      </p:sp>
      <p:sp>
        <p:nvSpPr>
          <p:cNvPr id="14" name="Freeform 14"/>
          <p:cNvSpPr/>
          <p:nvPr/>
        </p:nvSpPr>
        <p:spPr>
          <a:xfrm>
            <a:off x="2105520" y="4471286"/>
            <a:ext cx="858754" cy="1344429"/>
          </a:xfrm>
          <a:custGeom>
            <a:avLst/>
            <a:gdLst/>
            <a:ahLst/>
            <a:cxnLst/>
            <a:rect l="l" t="t" r="r" b="b"/>
            <a:pathLst>
              <a:path w="858754" h="1344429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90081" y="4650573"/>
            <a:ext cx="629715" cy="985855"/>
          </a:xfrm>
          <a:custGeom>
            <a:avLst/>
            <a:gdLst/>
            <a:ahLst/>
            <a:cxnLst/>
            <a:rect l="l" t="t" r="r" b="b"/>
            <a:pathLst>
              <a:path w="629715" h="98585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4226319" y="4189844"/>
            <a:ext cx="1218296" cy="1907312"/>
          </a:xfrm>
          <a:custGeom>
            <a:avLst/>
            <a:gdLst/>
            <a:ahLst/>
            <a:cxnLst/>
            <a:rect l="l" t="t" r="r" b="b"/>
            <a:pathLst>
              <a:path w="1218296" h="1907312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15323726" y="4471286"/>
            <a:ext cx="858754" cy="1344429"/>
          </a:xfrm>
          <a:custGeom>
            <a:avLst/>
            <a:gdLst/>
            <a:ahLst/>
            <a:cxnLst/>
            <a:rect l="l" t="t" r="r" b="b"/>
            <a:pathLst>
              <a:path w="858754" h="1344429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>
            <a:off x="16268205" y="4650573"/>
            <a:ext cx="629715" cy="985855"/>
          </a:xfrm>
          <a:custGeom>
            <a:avLst/>
            <a:gdLst/>
            <a:ahLst/>
            <a:cxnLst/>
            <a:rect l="l" t="t" r="r" b="b"/>
            <a:pathLst>
              <a:path w="629715" h="98585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484650" y="6859636"/>
            <a:ext cx="5318701" cy="147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8"/>
              </a:lnSpc>
              <a:spcBef>
                <a:spcPct val="0"/>
              </a:spcBef>
            </a:pPr>
            <a:r>
              <a:rPr lang="en-US" sz="4241">
                <a:solidFill>
                  <a:srgbClr val="FFFFFF"/>
                </a:solidFill>
                <a:latin typeface="Canva Sans"/>
                <a:ea typeface="Canva Sans"/>
              </a:rPr>
              <a:t>4109053049 張康磊 </a:t>
            </a:r>
          </a:p>
          <a:p>
            <a:pPr algn="ctr">
              <a:lnSpc>
                <a:spcPts val="5938"/>
              </a:lnSpc>
              <a:spcBef>
                <a:spcPct val="0"/>
              </a:spcBef>
            </a:pPr>
            <a:r>
              <a:rPr lang="en-US" sz="4241">
                <a:solidFill>
                  <a:srgbClr val="FFFFFF"/>
                </a:solidFill>
                <a:latin typeface="Canva Sans"/>
                <a:ea typeface="Canva Sans"/>
              </a:rPr>
              <a:t>4110053037 王盈穎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549877" y="2247308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014997" y="2247308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80118" y="2247308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8" y="0"/>
                </a:lnTo>
                <a:lnTo>
                  <a:pt x="355358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66185" y="5143500"/>
            <a:ext cx="9228690" cy="4730785"/>
          </a:xfrm>
          <a:custGeom>
            <a:avLst/>
            <a:gdLst/>
            <a:ahLst/>
            <a:cxnLst/>
            <a:rect l="l" t="t" r="r" b="b"/>
            <a:pathLst>
              <a:path w="9228690" h="4730785">
                <a:moveTo>
                  <a:pt x="0" y="0"/>
                </a:moveTo>
                <a:lnTo>
                  <a:pt x="9228690" y="0"/>
                </a:lnTo>
                <a:lnTo>
                  <a:pt x="9228690" y="4730785"/>
                </a:lnTo>
                <a:lnTo>
                  <a:pt x="0" y="47307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56121" y="5255502"/>
            <a:ext cx="358328" cy="313537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8F9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5948201" y="4667172"/>
            <a:ext cx="358328" cy="313537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8F9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888243"/>
            <a:ext cx="11420104" cy="4056983"/>
          </a:xfrm>
          <a:custGeom>
            <a:avLst/>
            <a:gdLst/>
            <a:ahLst/>
            <a:cxnLst/>
            <a:rect l="l" t="t" r="r" b="b"/>
            <a:pathLst>
              <a:path w="11420104" h="4056983">
                <a:moveTo>
                  <a:pt x="0" y="0"/>
                </a:moveTo>
                <a:lnTo>
                  <a:pt x="11420104" y="0"/>
                </a:lnTo>
                <a:lnTo>
                  <a:pt x="11420104" y="4056983"/>
                </a:lnTo>
                <a:lnTo>
                  <a:pt x="0" y="40569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67123" y="5207877"/>
            <a:ext cx="6133352" cy="192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ea typeface="TT Octosquares Compressed"/>
              </a:rPr>
              <a:t>亞馬遜開發之網站，可讓所有開發人員以強化學習模擬自駕賽車</a:t>
            </a:r>
          </a:p>
          <a:p>
            <a:pPr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TT Octosquares Compressed"/>
              </a:rPr>
              <a:t>Link:https://aws.amazon.com/tw/deepracer/</a:t>
            </a:r>
          </a:p>
          <a:p>
            <a:pPr>
              <a:lnSpc>
                <a:spcPts val="321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TT Octosquares Compres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306529" y="4555970"/>
            <a:ext cx="144086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TT Octosquares Compressed Bold"/>
              </a:rPr>
              <a:t>flow chart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62339" y="2914524"/>
            <a:ext cx="6509860" cy="2228976"/>
            <a:chOff x="0" y="0"/>
            <a:chExt cx="6350000" cy="2174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2174240"/>
            </a:xfrm>
            <a:custGeom>
              <a:avLst/>
              <a:gdLst/>
              <a:ahLst/>
              <a:cxnLst/>
              <a:rect l="l" t="t" r="r" b="b"/>
              <a:pathLst>
                <a:path w="6350000" h="2174240">
                  <a:moveTo>
                    <a:pt x="6350000" y="0"/>
                  </a:moveTo>
                  <a:lnTo>
                    <a:pt x="6350000" y="2174240"/>
                  </a:lnTo>
                  <a:lnTo>
                    <a:pt x="647700" y="2174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F1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189484" y="998267"/>
            <a:ext cx="11098516" cy="3800132"/>
            <a:chOff x="0" y="0"/>
            <a:chExt cx="6350000" cy="2174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2174240"/>
            </a:xfrm>
            <a:custGeom>
              <a:avLst/>
              <a:gdLst/>
              <a:ahLst/>
              <a:cxnLst/>
              <a:rect l="l" t="t" r="r" b="b"/>
              <a:pathLst>
                <a:path w="6350000" h="2174240">
                  <a:moveTo>
                    <a:pt x="6350000" y="0"/>
                  </a:moveTo>
                  <a:lnTo>
                    <a:pt x="6350000" y="2174240"/>
                  </a:lnTo>
                  <a:lnTo>
                    <a:pt x="647700" y="2174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098" b="-34098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850798" y="2399296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8" y="0"/>
                </a:lnTo>
                <a:lnTo>
                  <a:pt x="355358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315918" y="2399296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781038" y="2399296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850798" y="6751024"/>
            <a:ext cx="677751" cy="67775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85906" y="6751024"/>
            <a:ext cx="677751" cy="67775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H="1" flipV="1">
            <a:off x="7415256" y="7591871"/>
            <a:ext cx="19050" cy="2379126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850798" y="3079456"/>
            <a:ext cx="4770406" cy="228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17"/>
              </a:lnSpc>
            </a:pPr>
            <a:r>
              <a:rPr lang="en-US" sz="8560">
                <a:solidFill>
                  <a:srgbClr val="FFFFFF"/>
                </a:solidFill>
                <a:latin typeface="TT Octosquares Compressed"/>
              </a:rPr>
              <a:t>ABOUT DEEPRACER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58718" y="6745349"/>
            <a:ext cx="3267104" cy="73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3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FFFFFF"/>
                </a:solidFill>
                <a:latin typeface="TT Octosquares Compressed"/>
              </a:rPr>
              <a:t>A COURSE ON REINFORCEMENT 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41618" y="692702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B081D"/>
                </a:solidFill>
                <a:latin typeface="Open Sans Bold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92281" y="6926324"/>
            <a:ext cx="2976099" cy="37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3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FFFFFF"/>
                </a:solidFill>
                <a:latin typeface="TT Octosquares Compressed"/>
              </a:rPr>
              <a:t>CREATE A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76726" y="692702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B081D"/>
                </a:solidFill>
                <a:latin typeface="Open Sans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11834" y="6927022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B081D"/>
                </a:solidFill>
                <a:latin typeface="Open Sans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38142" y="7653506"/>
            <a:ext cx="5473058" cy="356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77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FFFFFF"/>
                </a:solidFill>
                <a:latin typeface="TT Octosquares Compressed"/>
              </a:rPr>
              <a:t>MODEL NAME AND ENVIRONMENT SPECIFYING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38142" y="8177380"/>
            <a:ext cx="562545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77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FFFFFF"/>
                </a:solidFill>
                <a:latin typeface="TT Octosquares Compressed"/>
              </a:rPr>
              <a:t>CHOOSE RACING TYPE AND TRAINING ALGORITHM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38142" y="8701255"/>
            <a:ext cx="4330058" cy="356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77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FFFFFF"/>
                </a:solidFill>
                <a:latin typeface="TT Octosquares Compressed"/>
              </a:rPr>
              <a:t>DEFINITION OF ACTION SPACE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38142" y="9224496"/>
            <a:ext cx="128205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77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FFFFFF"/>
                </a:solidFill>
                <a:latin typeface="TT Octosquares Compressed"/>
              </a:rPr>
              <a:t>VEHICLE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03852" y="9733506"/>
            <a:ext cx="367854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77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FFFFFF"/>
                </a:solidFill>
                <a:latin typeface="TT Octosquares Compressed"/>
              </a:rPr>
              <a:t>COSTOMIZE REWARD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3440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9952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64642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34401" y="1492053"/>
            <a:ext cx="15619198" cy="2302385"/>
          </a:xfrm>
          <a:custGeom>
            <a:avLst/>
            <a:gdLst/>
            <a:ahLst/>
            <a:cxnLst/>
            <a:rect l="l" t="t" r="r" b="b"/>
            <a:pathLst>
              <a:path w="15619198" h="2302385">
                <a:moveTo>
                  <a:pt x="0" y="0"/>
                </a:moveTo>
                <a:lnTo>
                  <a:pt x="15619198" y="0"/>
                </a:lnTo>
                <a:lnTo>
                  <a:pt x="15619198" y="2302385"/>
                </a:lnTo>
                <a:lnTo>
                  <a:pt x="0" y="2302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22668" y="232287"/>
            <a:ext cx="10242665" cy="99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4"/>
              </a:lnSpc>
              <a:spcBef>
                <a:spcPct val="0"/>
              </a:spcBef>
            </a:pPr>
            <a:r>
              <a:rPr lang="en-US" sz="5789">
                <a:solidFill>
                  <a:srgbClr val="FFFFFF"/>
                </a:solidFill>
                <a:latin typeface="TT Octosquares Compressed"/>
              </a:rPr>
              <a:t>A COURSE ON REINFORCEMENT LEARNING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5010852" y="4061138"/>
            <a:ext cx="8266296" cy="5645692"/>
          </a:xfrm>
          <a:custGeom>
            <a:avLst/>
            <a:gdLst/>
            <a:ahLst/>
            <a:cxnLst/>
            <a:rect l="l" t="t" r="r" b="b"/>
            <a:pathLst>
              <a:path w="8266296" h="5645692">
                <a:moveTo>
                  <a:pt x="0" y="0"/>
                </a:moveTo>
                <a:lnTo>
                  <a:pt x="8266296" y="0"/>
                </a:lnTo>
                <a:lnTo>
                  <a:pt x="8266296" y="5645692"/>
                </a:lnTo>
                <a:lnTo>
                  <a:pt x="0" y="5645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440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9952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64642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34401" y="2842478"/>
            <a:ext cx="6555568" cy="99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4"/>
              </a:lnSpc>
              <a:spcBef>
                <a:spcPct val="0"/>
              </a:spcBef>
            </a:pPr>
            <a:r>
              <a:rPr lang="en-US" sz="5789">
                <a:solidFill>
                  <a:srgbClr val="FFFFFF"/>
                </a:solidFill>
                <a:latin typeface="TT Octosquares Compressed"/>
              </a:rPr>
              <a:t>CREATE A MODEL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4401" y="5520320"/>
            <a:ext cx="15542450" cy="2549293"/>
          </a:xfrm>
          <a:custGeom>
            <a:avLst/>
            <a:gdLst/>
            <a:ahLst/>
            <a:cxnLst/>
            <a:rect l="l" t="t" r="r" b="b"/>
            <a:pathLst>
              <a:path w="15542450" h="2549293">
                <a:moveTo>
                  <a:pt x="0" y="0"/>
                </a:moveTo>
                <a:lnTo>
                  <a:pt x="15542450" y="0"/>
                </a:lnTo>
                <a:lnTo>
                  <a:pt x="15542450" y="2549294"/>
                </a:lnTo>
                <a:lnTo>
                  <a:pt x="0" y="25492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695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408110" y="1028700"/>
            <a:ext cx="7170414" cy="3103364"/>
          </a:xfrm>
          <a:custGeom>
            <a:avLst/>
            <a:gdLst/>
            <a:ahLst/>
            <a:cxnLst/>
            <a:rect l="l" t="t" r="r" b="b"/>
            <a:pathLst>
              <a:path w="7170414" h="3103364">
                <a:moveTo>
                  <a:pt x="0" y="0"/>
                </a:moveTo>
                <a:lnTo>
                  <a:pt x="7170414" y="0"/>
                </a:lnTo>
                <a:lnTo>
                  <a:pt x="7170414" y="3103364"/>
                </a:lnTo>
                <a:lnTo>
                  <a:pt x="0" y="3103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98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08110" y="4125333"/>
            <a:ext cx="7170414" cy="5887002"/>
          </a:xfrm>
          <a:custGeom>
            <a:avLst/>
            <a:gdLst/>
            <a:ahLst/>
            <a:cxnLst/>
            <a:rect l="l" t="t" r="r" b="b"/>
            <a:pathLst>
              <a:path w="7170414" h="5887002">
                <a:moveTo>
                  <a:pt x="0" y="0"/>
                </a:moveTo>
                <a:lnTo>
                  <a:pt x="7170414" y="0"/>
                </a:lnTo>
                <a:lnTo>
                  <a:pt x="7170414" y="5887001"/>
                </a:lnTo>
                <a:lnTo>
                  <a:pt x="0" y="588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51" b="-185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3440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9952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264642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4401" y="2881726"/>
            <a:ext cx="6808702" cy="2016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4"/>
              </a:lnSpc>
              <a:spcBef>
                <a:spcPct val="0"/>
              </a:spcBef>
            </a:pPr>
            <a:r>
              <a:rPr lang="en-US" sz="5789" u="none" strike="noStrike">
                <a:solidFill>
                  <a:srgbClr val="FFFFFF"/>
                </a:solidFill>
                <a:latin typeface="TT Octosquares Compressed"/>
              </a:rPr>
              <a:t>MODEL NAME AND ENVIRONMENT SPECIFYING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375925"/>
            <a:ext cx="5152168" cy="4882375"/>
            <a:chOff x="0" y="0"/>
            <a:chExt cx="6353786" cy="6021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3786" cy="6021070"/>
            </a:xfrm>
            <a:custGeom>
              <a:avLst/>
              <a:gdLst/>
              <a:ahLst/>
              <a:cxnLst/>
              <a:rect l="l" t="t" r="r" b="b"/>
              <a:pathLst>
                <a:path w="6353786" h="6021070">
                  <a:moveTo>
                    <a:pt x="0" y="6021070"/>
                  </a:moveTo>
                  <a:lnTo>
                    <a:pt x="738340" y="0"/>
                  </a:lnTo>
                  <a:lnTo>
                    <a:pt x="6353786" y="0"/>
                  </a:lnTo>
                  <a:lnTo>
                    <a:pt x="5615446" y="6021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567916" y="2702313"/>
            <a:ext cx="5152168" cy="4882375"/>
            <a:chOff x="0" y="0"/>
            <a:chExt cx="6353786" cy="6021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3786" cy="6021070"/>
            </a:xfrm>
            <a:custGeom>
              <a:avLst/>
              <a:gdLst/>
              <a:ahLst/>
              <a:cxnLst/>
              <a:rect l="l" t="t" r="r" b="b"/>
              <a:pathLst>
                <a:path w="6353786" h="6021070">
                  <a:moveTo>
                    <a:pt x="0" y="6021070"/>
                  </a:moveTo>
                  <a:lnTo>
                    <a:pt x="738340" y="0"/>
                  </a:lnTo>
                  <a:lnTo>
                    <a:pt x="6353786" y="0"/>
                  </a:lnTo>
                  <a:lnTo>
                    <a:pt x="5615446" y="6021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107132" y="1028700"/>
            <a:ext cx="5152168" cy="4882375"/>
            <a:chOff x="0" y="0"/>
            <a:chExt cx="6353786" cy="60210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3786" cy="6021070"/>
            </a:xfrm>
            <a:custGeom>
              <a:avLst/>
              <a:gdLst/>
              <a:ahLst/>
              <a:cxnLst/>
              <a:rect l="l" t="t" r="r" b="b"/>
              <a:pathLst>
                <a:path w="6353786" h="6021070">
                  <a:moveTo>
                    <a:pt x="0" y="6021070"/>
                  </a:moveTo>
                  <a:lnTo>
                    <a:pt x="738340" y="0"/>
                  </a:lnTo>
                  <a:lnTo>
                    <a:pt x="6353786" y="0"/>
                  </a:lnTo>
                  <a:lnTo>
                    <a:pt x="5615446" y="6021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Freeform 14"/>
          <p:cNvSpPr/>
          <p:nvPr/>
        </p:nvSpPr>
        <p:spPr>
          <a:xfrm>
            <a:off x="729546" y="122281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94667" y="122281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59787" y="122281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29546" y="2008071"/>
            <a:ext cx="6108109" cy="9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6"/>
              </a:lnSpc>
              <a:spcBef>
                <a:spcPct val="0"/>
              </a:spcBef>
            </a:pPr>
            <a:r>
              <a:rPr lang="en-US" sz="5790">
                <a:solidFill>
                  <a:srgbClr val="FFFFFF"/>
                </a:solidFill>
                <a:latin typeface="TT Octosquares Compressed"/>
              </a:rPr>
              <a:t>CHOOSE RACING TYPE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5223" y="4452119"/>
            <a:ext cx="5152168" cy="4882375"/>
            <a:chOff x="0" y="0"/>
            <a:chExt cx="6353786" cy="60210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3786" cy="6021070"/>
            </a:xfrm>
            <a:custGeom>
              <a:avLst/>
              <a:gdLst/>
              <a:ahLst/>
              <a:cxnLst/>
              <a:rect l="l" t="t" r="r" b="b"/>
              <a:pathLst>
                <a:path w="6353786" h="6021070">
                  <a:moveTo>
                    <a:pt x="0" y="6021070"/>
                  </a:moveTo>
                  <a:lnTo>
                    <a:pt x="738340" y="0"/>
                  </a:lnTo>
                  <a:lnTo>
                    <a:pt x="6353786" y="0"/>
                  </a:lnTo>
                  <a:lnTo>
                    <a:pt x="5615446" y="6021070"/>
                  </a:lnTo>
                  <a:close/>
                </a:path>
              </a:pathLst>
            </a:custGeom>
            <a:blipFill>
              <a:blip r:embed="rId9"/>
              <a:stretch>
                <a:fillRect t="-2240" b="-224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567916" y="2702313"/>
            <a:ext cx="5152168" cy="4882375"/>
            <a:chOff x="0" y="0"/>
            <a:chExt cx="6353786" cy="60210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3786" cy="6021070"/>
            </a:xfrm>
            <a:custGeom>
              <a:avLst/>
              <a:gdLst/>
              <a:ahLst/>
              <a:cxnLst/>
              <a:rect l="l" t="t" r="r" b="b"/>
              <a:pathLst>
                <a:path w="6353786" h="6021070">
                  <a:moveTo>
                    <a:pt x="0" y="6021070"/>
                  </a:moveTo>
                  <a:lnTo>
                    <a:pt x="738340" y="0"/>
                  </a:lnTo>
                  <a:lnTo>
                    <a:pt x="6353786" y="0"/>
                  </a:lnTo>
                  <a:lnTo>
                    <a:pt x="5615446" y="6021070"/>
                  </a:lnTo>
                  <a:close/>
                </a:path>
              </a:pathLst>
            </a:custGeom>
            <a:blipFill>
              <a:blip r:embed="rId10"/>
              <a:stretch>
                <a:fillRect t="-2066" b="-206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046981" y="1028700"/>
            <a:ext cx="5277728" cy="4882375"/>
            <a:chOff x="0" y="0"/>
            <a:chExt cx="6508630" cy="60210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08631" cy="6021070"/>
            </a:xfrm>
            <a:custGeom>
              <a:avLst/>
              <a:gdLst/>
              <a:ahLst/>
              <a:cxnLst/>
              <a:rect l="l" t="t" r="r" b="b"/>
              <a:pathLst>
                <a:path w="6508631" h="6021070">
                  <a:moveTo>
                    <a:pt x="0" y="6021070"/>
                  </a:moveTo>
                  <a:lnTo>
                    <a:pt x="756333" y="0"/>
                  </a:lnTo>
                  <a:lnTo>
                    <a:pt x="6508631" y="0"/>
                  </a:lnTo>
                  <a:lnTo>
                    <a:pt x="5752297" y="6021070"/>
                  </a:lnTo>
                  <a:close/>
                </a:path>
              </a:pathLst>
            </a:custGeom>
            <a:blipFill>
              <a:blip r:embed="rId11"/>
              <a:stretch>
                <a:fillRect t="-4390" b="-4390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3440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9952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64642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12081" y="4868059"/>
            <a:ext cx="6108109" cy="9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6"/>
              </a:lnSpc>
              <a:spcBef>
                <a:spcPct val="0"/>
              </a:spcBef>
            </a:pPr>
            <a:r>
              <a:rPr lang="en-US" sz="5790">
                <a:solidFill>
                  <a:srgbClr val="FFFFFF"/>
                </a:solidFill>
                <a:latin typeface="TT Octosquares Compressed"/>
              </a:rPr>
              <a:t> TRAINING ALGORITHM</a:t>
            </a:r>
          </a:p>
        </p:txBody>
      </p:sp>
      <p:sp>
        <p:nvSpPr>
          <p:cNvPr id="11" name="Freeform 11"/>
          <p:cNvSpPr/>
          <p:nvPr/>
        </p:nvSpPr>
        <p:spPr>
          <a:xfrm>
            <a:off x="9214574" y="1028700"/>
            <a:ext cx="8044726" cy="8788952"/>
          </a:xfrm>
          <a:custGeom>
            <a:avLst/>
            <a:gdLst/>
            <a:ahLst/>
            <a:cxnLst/>
            <a:rect l="l" t="t" r="r" b="b"/>
            <a:pathLst>
              <a:path w="8044726" h="8788952">
                <a:moveTo>
                  <a:pt x="0" y="0"/>
                </a:moveTo>
                <a:lnTo>
                  <a:pt x="8044726" y="0"/>
                </a:lnTo>
                <a:lnTo>
                  <a:pt x="8044726" y="8788952"/>
                </a:lnTo>
                <a:lnTo>
                  <a:pt x="0" y="87889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055675" y="21175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20796" y="21175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8" y="0"/>
                </a:lnTo>
                <a:lnTo>
                  <a:pt x="355358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985916" y="21175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9652" y="4298997"/>
            <a:ext cx="9041831" cy="2660959"/>
          </a:xfrm>
          <a:custGeom>
            <a:avLst/>
            <a:gdLst/>
            <a:ahLst/>
            <a:cxnLst/>
            <a:rect l="l" t="t" r="r" b="b"/>
            <a:pathLst>
              <a:path w="9041831" h="2660959">
                <a:moveTo>
                  <a:pt x="0" y="0"/>
                </a:moveTo>
                <a:lnTo>
                  <a:pt x="9041832" y="0"/>
                </a:lnTo>
                <a:lnTo>
                  <a:pt x="9041832" y="2660960"/>
                </a:lnTo>
                <a:lnTo>
                  <a:pt x="0" y="26609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49555" y="2455429"/>
            <a:ext cx="7881220" cy="6348095"/>
          </a:xfrm>
          <a:custGeom>
            <a:avLst/>
            <a:gdLst/>
            <a:ahLst/>
            <a:cxnLst/>
            <a:rect l="l" t="t" r="r" b="b"/>
            <a:pathLst>
              <a:path w="7881220" h="6348095">
                <a:moveTo>
                  <a:pt x="0" y="0"/>
                </a:moveTo>
                <a:lnTo>
                  <a:pt x="7881220" y="0"/>
                </a:lnTo>
                <a:lnTo>
                  <a:pt x="7881220" y="6348096"/>
                </a:lnTo>
                <a:lnTo>
                  <a:pt x="0" y="6348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73904" y="239067"/>
            <a:ext cx="7540192" cy="9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6"/>
              </a:lnSpc>
              <a:spcBef>
                <a:spcPct val="0"/>
              </a:spcBef>
            </a:pPr>
            <a:r>
              <a:rPr lang="en-US" sz="5790">
                <a:solidFill>
                  <a:srgbClr val="FFFFFF"/>
                </a:solidFill>
                <a:latin typeface="TT Octosquares Compressed"/>
              </a:rPr>
              <a:t>DEFINITION OF ACTION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33368" y="1219200"/>
            <a:ext cx="7238574" cy="10227524"/>
            <a:chOff x="0" y="0"/>
            <a:chExt cx="4462780" cy="6305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62780" cy="6305550"/>
            </a:xfrm>
            <a:custGeom>
              <a:avLst/>
              <a:gdLst/>
              <a:ahLst/>
              <a:cxnLst/>
              <a:rect l="l" t="t" r="r" b="b"/>
              <a:pathLst>
                <a:path w="4462780" h="6305550">
                  <a:moveTo>
                    <a:pt x="0" y="0"/>
                  </a:moveTo>
                  <a:lnTo>
                    <a:pt x="4462780" y="594360"/>
                  </a:lnTo>
                  <a:lnTo>
                    <a:pt x="3385820" y="6305550"/>
                  </a:lnTo>
                  <a:lnTo>
                    <a:pt x="1062990" y="5552440"/>
                  </a:lnTo>
                  <a:lnTo>
                    <a:pt x="1076960" y="4930140"/>
                  </a:lnTo>
                  <a:lnTo>
                    <a:pt x="198120" y="4716780"/>
                  </a:lnTo>
                  <a:close/>
                </a:path>
              </a:pathLst>
            </a:custGeom>
            <a:solidFill>
              <a:srgbClr val="12F1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68745" y="1522689"/>
            <a:ext cx="8551317" cy="10227524"/>
            <a:chOff x="0" y="0"/>
            <a:chExt cx="5272122" cy="6305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72122" cy="6305550"/>
            </a:xfrm>
            <a:custGeom>
              <a:avLst/>
              <a:gdLst/>
              <a:ahLst/>
              <a:cxnLst/>
              <a:rect l="l" t="t" r="r" b="b"/>
              <a:pathLst>
                <a:path w="5272122" h="6305550">
                  <a:moveTo>
                    <a:pt x="0" y="0"/>
                  </a:moveTo>
                  <a:lnTo>
                    <a:pt x="5272122" y="594360"/>
                  </a:lnTo>
                  <a:lnTo>
                    <a:pt x="3999852" y="6305550"/>
                  </a:lnTo>
                  <a:lnTo>
                    <a:pt x="1255767" y="5552440"/>
                  </a:lnTo>
                  <a:lnTo>
                    <a:pt x="1272271" y="4930140"/>
                  </a:lnTo>
                  <a:lnTo>
                    <a:pt x="234050" y="4716780"/>
                  </a:lnTo>
                  <a:close/>
                </a:path>
              </a:pathLst>
            </a:custGeom>
            <a:blipFill>
              <a:blip r:embed="rId7"/>
              <a:stretch>
                <a:fillRect l="-18995" r="-50731" b="-59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209402" y="3148955"/>
            <a:ext cx="4623519" cy="99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06"/>
              </a:lnSpc>
              <a:spcBef>
                <a:spcPct val="0"/>
              </a:spcBef>
            </a:pPr>
            <a:r>
              <a:rPr lang="en-US" sz="5790">
                <a:solidFill>
                  <a:srgbClr val="FFFFFF"/>
                </a:solidFill>
                <a:latin typeface="TT Octosquares Compressed"/>
              </a:rPr>
              <a:t>VEHICLE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209402" y="24007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4522" y="24007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39643" y="2400725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4710" y="458184"/>
            <a:ext cx="306065" cy="336000"/>
          </a:xfrm>
          <a:custGeom>
            <a:avLst/>
            <a:gdLst/>
            <a:ahLst/>
            <a:cxnLst/>
            <a:rect l="l" t="t" r="r" b="b"/>
            <a:pathLst>
              <a:path w="306065" h="336000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972" y="439904"/>
            <a:ext cx="253149" cy="354280"/>
          </a:xfrm>
          <a:custGeom>
            <a:avLst/>
            <a:gdLst/>
            <a:ahLst/>
            <a:cxnLst/>
            <a:rect l="l" t="t" r="r" b="b"/>
            <a:pathLst>
              <a:path w="253149" h="354280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239" cy="579341"/>
            </a:xfrm>
            <a:custGeom>
              <a:avLst/>
              <a:gdLst/>
              <a:ahLst/>
              <a:cxnLst/>
              <a:rect l="l" t="t" r="r" b="b"/>
              <a:pathLst>
                <a:path w="1347239" h="579341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440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99521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64642" y="2086911"/>
            <a:ext cx="355359" cy="556335"/>
          </a:xfrm>
          <a:custGeom>
            <a:avLst/>
            <a:gdLst/>
            <a:ahLst/>
            <a:cxnLst/>
            <a:rect l="l" t="t" r="r" b="b"/>
            <a:pathLst>
              <a:path w="355359" h="556335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574520" y="1373228"/>
            <a:ext cx="10944922" cy="8057519"/>
          </a:xfrm>
          <a:custGeom>
            <a:avLst/>
            <a:gdLst/>
            <a:ahLst/>
            <a:cxnLst/>
            <a:rect l="l" t="t" r="r" b="b"/>
            <a:pathLst>
              <a:path w="10944922" h="8057519">
                <a:moveTo>
                  <a:pt x="0" y="0"/>
                </a:moveTo>
                <a:lnTo>
                  <a:pt x="10944922" y="0"/>
                </a:lnTo>
                <a:lnTo>
                  <a:pt x="10944922" y="8057519"/>
                </a:lnTo>
                <a:lnTo>
                  <a:pt x="0" y="80575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34401" y="3024934"/>
            <a:ext cx="4365642" cy="202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6"/>
              </a:lnSpc>
              <a:spcBef>
                <a:spcPct val="0"/>
              </a:spcBef>
            </a:pPr>
            <a:r>
              <a:rPr lang="en-US" sz="5790" u="none" strike="noStrike">
                <a:solidFill>
                  <a:srgbClr val="FFFFFF"/>
                </a:solidFill>
                <a:latin typeface="TT Octosquares Compressed"/>
              </a:rPr>
              <a:t>COSTOMIZE REWARD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7160" y="4269922"/>
            <a:ext cx="1173368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</a:rPr>
              <a:t>參考網址:</a:t>
            </a:r>
          </a:p>
          <a:p>
            <a:pPr algn="l">
              <a:lnSpc>
                <a:spcPts val="3240"/>
              </a:lnSpc>
            </a:pPr>
            <a:r>
              <a:rPr lang="en-US" sz="2700" u="sng">
                <a:solidFill>
                  <a:srgbClr val="0563C1"/>
                </a:solidFill>
                <a:latin typeface="Arimo"/>
                <a:hlinkClick r:id="rId2" tooltip="https://engineering.linecorp.com/zh-hant/blog/aws-deepracer-2019"/>
              </a:rPr>
              <a:t>https://engineering.linecorp.com/zh-hant/blog/aws-deepracer-2019</a:t>
            </a:r>
          </a:p>
          <a:p>
            <a:pPr algn="l">
              <a:lnSpc>
                <a:spcPts val="3240"/>
              </a:lnSpc>
            </a:pPr>
            <a:r>
              <a:rPr lang="en-US" sz="2700" u="sng">
                <a:solidFill>
                  <a:srgbClr val="0563C1"/>
                </a:solidFill>
                <a:latin typeface="Arimo"/>
                <a:hlinkClick r:id="rId3" tooltip="https://us-east-1.console.aws.amazon.com/deepracer/home?region=us-east-1#createModel"/>
              </a:rPr>
              <a:t>https://us-east-1.console.aws.amazon.com/deepracer/home?region=us-east-1#createModel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</Words>
  <Application>Microsoft Office PowerPoint</Application>
  <PresentationFormat>自訂</PresentationFormat>
  <Paragraphs>32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Arimo</vt:lpstr>
      <vt:lpstr>TT Octosquares Compressed</vt:lpstr>
      <vt:lpstr>Open Sans Bold</vt:lpstr>
      <vt:lpstr>TT Octosquares Compressed Bold</vt:lpstr>
      <vt:lpstr>Arial</vt:lpstr>
      <vt:lpstr>Open Sans</vt:lpstr>
      <vt:lpstr>Canva Sans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DeepRacer.pptx</dc:title>
  <cp:lastModifiedBy>user</cp:lastModifiedBy>
  <cp:revision>2</cp:revision>
  <dcterms:created xsi:type="dcterms:W3CDTF">2006-08-16T00:00:00Z</dcterms:created>
  <dcterms:modified xsi:type="dcterms:W3CDTF">2024-03-27T16:30:19Z</dcterms:modified>
  <dc:identifier>DAGAtpyGOGE</dc:identifier>
</cp:coreProperties>
</file>